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640080"/>
            <a:ext cx="2377440" cy="2377440"/>
          </a:xfrm>
          <a:prstGeom prst="ellipse">
            <a:avLst/>
          </a:prstGeom>
          <a:solidFill>
            <a:srgbClr val="14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1097280"/>
            <a:ext cx="1463040" cy="1463040"/>
          </a:xfrm>
          <a:prstGeom prst="ellipse">
            <a:avLst/>
          </a:prstGeom>
          <a:solidFill>
            <a:srgbClr val="006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548640" y="5120640"/>
            <a:ext cx="2743200" cy="2743200"/>
          </a:xfrm>
          <a:prstGeom prst="ellipse">
            <a:avLst/>
          </a:prstGeom>
          <a:solidFill>
            <a:srgbClr val="14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566928" cy="109728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A896"/>
                </a:solidFill>
                <a:latin typeface="Microsoft JhengHei"/>
                <a:ea typeface="Microsoft JhengHei"/>
                <a:cs typeface="Microsoft JhengHei"/>
              </a:rPr>
              <a:t>專 案 總 結 報 告  ·  PROJECT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76272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個人學習導師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204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AI-Assisted Personal Tutor —— 不只回答問題的智能學習夥伴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348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 大核心能力   ·   </a:t>
            </a:r>
            <a:r>
              <a:rPr sz="13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FastAPI 後端 + React 前端   ·   </a:t>
            </a:r>
            <a:r>
              <a:rPr sz="13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模組化單體架構   ·   </a:t>
            </a:r>
            <a:r>
              <a:rPr sz="13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代數科目切片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166360"/>
            <a:ext cx="786384" cy="420624"/>
          </a:xfrm>
          <a:prstGeom prst="roundRect">
            <a:avLst>
              <a:gd name="adj" fmla="val 50000"/>
            </a:avLst>
          </a:prstGeom>
          <a:solidFill>
            <a:srgbClr val="163552"/>
          </a:solidFill>
          <a:ln w="12700">
            <a:solidFill>
              <a:srgbClr val="2A4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5239512"/>
            <a:ext cx="7863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問題陳述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90472" y="5166360"/>
            <a:ext cx="786384" cy="420624"/>
          </a:xfrm>
          <a:prstGeom prst="roundRect">
            <a:avLst>
              <a:gd name="adj" fmla="val 50000"/>
            </a:avLst>
          </a:prstGeom>
          <a:solidFill>
            <a:srgbClr val="163552"/>
          </a:solidFill>
          <a:ln w="12700">
            <a:solidFill>
              <a:srgbClr val="2A4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90472" y="5239512"/>
            <a:ext cx="7863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系統架構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78024" y="5166360"/>
            <a:ext cx="1664208" cy="420624"/>
          </a:xfrm>
          <a:prstGeom prst="roundRect">
            <a:avLst>
              <a:gd name="adj" fmla="val 50000"/>
            </a:avLst>
          </a:prstGeom>
          <a:solidFill>
            <a:srgbClr val="163552"/>
          </a:solidFill>
          <a:ln w="12700">
            <a:solidFill>
              <a:srgbClr val="2A4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78024" y="5239512"/>
            <a:ext cx="16642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Tutor Loop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5166360"/>
            <a:ext cx="786384" cy="420624"/>
          </a:xfrm>
          <a:prstGeom prst="roundRect">
            <a:avLst>
              <a:gd name="adj" fmla="val 50000"/>
            </a:avLst>
          </a:prstGeom>
          <a:solidFill>
            <a:srgbClr val="163552"/>
          </a:solidFill>
          <a:ln w="12700">
            <a:solidFill>
              <a:srgbClr val="2A4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5239512"/>
            <a:ext cx="78638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資料模型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30952" y="5166360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163552"/>
          </a:solidFill>
          <a:ln w="12700">
            <a:solidFill>
              <a:srgbClr val="2A4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30952" y="523951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REST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5166360"/>
            <a:ext cx="932688" cy="420624"/>
          </a:xfrm>
          <a:prstGeom prst="roundRect">
            <a:avLst>
              <a:gd name="adj" fmla="val 50000"/>
            </a:avLst>
          </a:prstGeom>
          <a:solidFill>
            <a:srgbClr val="163552"/>
          </a:solidFill>
          <a:ln w="12700">
            <a:solidFill>
              <a:srgbClr val="2A4E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5239512"/>
            <a:ext cx="932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驗證與修正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願景與痛點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為什麼需要 AI 個人導師？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教育系統的可擴展性挑戰，讓每位學習者都值得被個別理解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615184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64008" cy="148132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984248"/>
            <a:ext cx="310896" cy="310896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" y="1965960"/>
            <a:ext cx="18379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缺乏個人化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404872"/>
            <a:ext cx="22037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所有學生收到相同教學，忽略背景、學習風格與精熟度差異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59" y="1783080"/>
            <a:ext cx="2615184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59" y="1783080"/>
            <a:ext cx="64008" cy="14813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20439" y="1984248"/>
            <a:ext cx="310896" cy="31089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41063" y="1965960"/>
            <a:ext cx="18379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回饋延遲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5" y="2404872"/>
            <a:ext cx="22037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犯錯後數小時甚至數天才得到回饋，錯失學習動量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83864"/>
            <a:ext cx="2615184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483864"/>
            <a:ext cx="64008" cy="14813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3685032"/>
            <a:ext cx="310896" cy="31089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" y="3666744"/>
            <a:ext cx="18379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隱藏迷思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4105656"/>
            <a:ext cx="22037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學生看似答對，卻仍抱持錯誤假設，影響後續學習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59" y="3483864"/>
            <a:ext cx="2615184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37559" y="3483864"/>
            <a:ext cx="64008" cy="1481328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520439" y="3685032"/>
            <a:ext cx="310896" cy="310896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41063" y="3666744"/>
            <a:ext cx="183794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教師頻寬有限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7015" y="4105656"/>
            <a:ext cx="22037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大班、遠距、自學情境下，難以提供一對一支持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074920"/>
            <a:ext cx="11185855" cy="1051560"/>
          </a:xfrm>
          <a:prstGeom prst="roundRect">
            <a:avLst>
              <a:gd name="adj" fmla="val 8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257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A896"/>
                </a:solidFill>
                <a:latin typeface="Microsoft JhengHei"/>
                <a:ea typeface="Microsoft JhengHei"/>
                <a:cs typeface="Microsoft JhengHei"/>
              </a:rPr>
              <a:t>願景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57784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「不只回答問題」</a:t>
            </a:r>
            <a:r>
              <a:rPr sz="145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—— 而是診斷理解、規劃路徑、調適講解、互動練習、記住進度，並支持教師。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AI 個人學習導師 · 專案總結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核心能力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七大核心能力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由「回答問題」升級為「理解 → 規劃 → 引導 → 記憶 → 支持」的完整學習閉環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6974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64008" cy="1874519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04088" y="1965960"/>
            <a:ext cx="457200" cy="45720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192938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學習診斷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2295144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Diagnose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78892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評估精熟度與迷思概念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783080"/>
            <a:ext cx="26974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783080"/>
            <a:ext cx="64008" cy="1874519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84448" y="196596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7952" y="192938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個人化學習計畫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7952" y="2295144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2736" y="278892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目標、資源、練習與複習排程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783080"/>
            <a:ext cx="26974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783080"/>
            <a:ext cx="64008" cy="1874519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4808" y="196596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192938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調適性講解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312" y="2295144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Explain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3096" y="278892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多難度、類比與逐步推理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1783080"/>
            <a:ext cx="26974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1783080"/>
            <a:ext cx="64008" cy="1874519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45168" y="1965960"/>
            <a:ext cx="457200" cy="45720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8672" y="192938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互動式練習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48672" y="2295144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Practice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63456" y="278892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習題、提示階梯、追問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840480"/>
            <a:ext cx="26974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3840480"/>
            <a:ext cx="64008" cy="1874519"/>
          </a:xfrm>
          <a:prstGeom prst="rect">
            <a:avLst/>
          </a:prstGeom>
          <a:solidFill>
            <a:srgbClr val="14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4088" y="4023360"/>
            <a:ext cx="457200" cy="457200"/>
          </a:xfrm>
          <a:prstGeom prst="ellipse">
            <a:avLst/>
          </a:prstGeom>
          <a:solidFill>
            <a:srgbClr val="14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07592" y="398678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進度記憶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07592" y="4352544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Remember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" y="484632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跨 session 記錄進度與錯誤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83280" y="3840480"/>
            <a:ext cx="26974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83280" y="3840480"/>
            <a:ext cx="64008" cy="1874519"/>
          </a:xfrm>
          <a:prstGeom prst="rect">
            <a:avLst/>
          </a:prstGeom>
          <a:solidFill>
            <a:srgbClr val="006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84448" y="4023360"/>
            <a:ext cx="457200" cy="457200"/>
          </a:xfrm>
          <a:prstGeom prst="ellipse">
            <a:avLst/>
          </a:prstGeom>
          <a:solidFill>
            <a:srgbClr val="006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87952" y="398678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教師支援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87952" y="4352544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Teacher support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02736" y="484632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摘要、學習分析、建議介入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3840480"/>
            <a:ext cx="26974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63640" y="3840480"/>
            <a:ext cx="64008" cy="1874519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64808" y="4023360"/>
            <a:ext cx="457200" cy="45720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68312" y="398678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責任式輔導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68312" y="4352544"/>
            <a:ext cx="1737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Responsible tutoring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83096" y="4846320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引導思考、不直接給答案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580644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責任式輔導</a:t>
            </a:r>
            <a:r>
              <a:rPr sz="12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 是橫切所有能力的「護欄」——每一回合都先經過安全檢查，才產出回覆。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AI 個人學習導師 · 專案總結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系統架構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模組化單體（Modular Monolith）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單一部署單元，內部以明確模組邊界切分；未來可依邊界拆分為服務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11185855" cy="713232"/>
          </a:xfrm>
          <a:prstGeom prst="roundRect">
            <a:avLst>
              <a:gd name="adj" fmla="val 8000"/>
            </a:avLst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Client — React 前端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85416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Learner UI（聊天／練習／進度）  ·  Teacher UI（分析／介入名單）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30087" y="2505456"/>
            <a:ext cx="7315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42616"/>
            <a:ext cx="11185855" cy="713232"/>
          </a:xfrm>
          <a:prstGeom prst="roundRect">
            <a:avLst>
              <a:gd name="adj" fmla="val 8000"/>
            </a:avLst>
          </a:prstGeom>
          <a:solidFill>
            <a:srgbClr val="006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61488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API Layer — FastAPI 路由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44952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參數驗證、身分／授權、錯誤封裝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30087" y="3364991"/>
            <a:ext cx="7315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02152"/>
            <a:ext cx="11185855" cy="713232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21024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Application / Orchestration — TutorOrchestrator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0448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Diagnosis · Planner · Explanation · Practice · Reporting · Guardrail + MemoryModule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30087" y="4224528"/>
            <a:ext cx="7315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61688"/>
            <a:ext cx="11185855" cy="713232"/>
          </a:xfrm>
          <a:prstGeom prst="roundRect">
            <a:avLst>
              <a:gd name="adj" fmla="val 8000"/>
            </a:avLst>
          </a:prstGeom>
          <a:solidFill>
            <a:srgbClr val="14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80560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LLM / Prompt 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64024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PromptCatalog + LLMClient（OpenAI 相容、可替換）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30087" y="5084064"/>
            <a:ext cx="7315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221224"/>
            <a:ext cx="11185855" cy="713232"/>
          </a:xfrm>
          <a:prstGeom prst="roundRect">
            <a:avLst>
              <a:gd name="adj" fmla="val 8000"/>
            </a:avLst>
          </a:prstGeom>
          <a:solidFill>
            <a:srgbClr val="14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340096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Persistence 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62356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Repository 實作（SQLite → 可遷移 PostgreSQL）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190488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依賴方向：</a:t>
            </a:r>
            <a:r>
              <a:rPr sz="12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UI → API → Application →（Port 介面）→ LLM 層／持久層。LLM 層與持久層互不認識，可獨立建置與測試。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AI 個人學習導師 · 專案總結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AGENT 編排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Tutor Loop —— 單一回合的生命週期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確定性編排 + LLM 子任務：可測試、可稽核、可控成本、安全強制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61518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64008" cy="157276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901952"/>
            <a:ext cx="310896" cy="310896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892807"/>
            <a:ext cx="18836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載入脈絡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304288"/>
            <a:ext cx="223113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MemoryModule 讀取 Learner、KnowledgeState、LearningPath、Session 摘要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1737360"/>
            <a:ext cx="261518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9272" y="1737360"/>
            <a:ext cx="64008" cy="1572768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02152" y="1901952"/>
            <a:ext cx="310896" cy="310896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1892807"/>
            <a:ext cx="18836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Guardrail 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304288"/>
            <a:ext cx="223113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敏感／緊急／越界 → 走升級分支並結束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35624" y="1737360"/>
            <a:ext cx="261518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35624" y="1737360"/>
            <a:ext cx="64008" cy="157276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18504" y="1901952"/>
            <a:ext cx="310896" cy="31089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1892807"/>
            <a:ext cx="18836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意圖分類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2304288"/>
            <a:ext cx="223113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ask / practice / submit / goal / review / chitchat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51976" y="1737360"/>
            <a:ext cx="261518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51976" y="1737360"/>
            <a:ext cx="64008" cy="1572768"/>
          </a:xfrm>
          <a:prstGeom prst="rect">
            <a:avLst/>
          </a:prstGeom>
          <a:solidFill>
            <a:srgbClr val="006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34856" y="1901952"/>
            <a:ext cx="310896" cy="310896"/>
          </a:xfrm>
          <a:prstGeom prst="ellipse">
            <a:avLst/>
          </a:prstGeom>
          <a:solidFill>
            <a:srgbClr val="006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8904" y="1892807"/>
            <a:ext cx="18836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路由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2304288"/>
            <a:ext cx="223113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診斷 → 講解 → 練習 → 規劃 等模組各自讀—想—寫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547872"/>
            <a:ext cx="261518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3547872"/>
            <a:ext cx="64008" cy="1572768"/>
          </a:xfrm>
          <a:prstGeom prst="rect">
            <a:avLst/>
          </a:prstGeom>
          <a:solidFill>
            <a:srgbClr val="14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3712463"/>
            <a:ext cx="310896" cy="310896"/>
          </a:xfrm>
          <a:prstGeom prst="ellipse">
            <a:avLst/>
          </a:prstGeom>
          <a:solidFill>
            <a:srgbClr val="14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3703320"/>
            <a:ext cx="18836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產出 TutorAction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" y="4114800"/>
            <a:ext cx="223113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reply、hints[]、follow_up、state_delta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19272" y="3547872"/>
            <a:ext cx="261518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19272" y="3547872"/>
            <a:ext cx="64008" cy="157276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502152" y="3712463"/>
            <a:ext cx="310896" cy="31089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3703320"/>
            <a:ext cx="18836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套用 state_delta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4114800"/>
            <a:ext cx="223113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單一交易持久化，更新進度／作答／路徑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35624" y="3547872"/>
            <a:ext cx="261518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35624" y="3547872"/>
            <a:ext cx="64008" cy="1572768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18504" y="3712463"/>
            <a:ext cx="310896" cy="310896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02552" y="3703320"/>
            <a:ext cx="18836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Guardrail 後置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792" y="4114800"/>
            <a:ext cx="223113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檢查是否洩漏答案、是否需升級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51976" y="3547872"/>
            <a:ext cx="2615184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51976" y="3547872"/>
            <a:ext cx="64008" cy="157276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134856" y="3712463"/>
            <a:ext cx="310896" cy="31089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18904" y="3703320"/>
            <a:ext cx="18836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回覆學習者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53144" y="4114800"/>
            <a:ext cx="223113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含選用 follow_up 追問，延續學習動量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623560"/>
            <a:ext cx="1118585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關鍵決策：</a:t>
            </a:r>
            <a:r>
              <a:rPr sz="12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LLM 只在需要語言理解／生成處呼叫；最終寫入持久層一律經由 Repository 介面，模型不直接碰資料庫。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AI 個人學習導師 · 專案總結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資料模型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11 個核心實體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邏輯實體定義（欄位＋型別＋語意）；原型用 SQLite，可無痛遷移 PostgreSQL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358444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64008" cy="74980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892807"/>
            <a:ext cx="31729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learner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185416"/>
            <a:ext cx="31729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學習者檔案：目標、程度、講解難度基準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59" y="1783080"/>
            <a:ext cx="358444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783080"/>
            <a:ext cx="64008" cy="74980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1416" y="1892807"/>
            <a:ext cx="31729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topic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2185416"/>
            <a:ext cx="31729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主題節點／技能圖：前置關係、難度順序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783080"/>
            <a:ext cx="358444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783080"/>
            <a:ext cx="64008" cy="7498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0456" y="1892807"/>
            <a:ext cx="31729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knowledge_state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2185416"/>
            <a:ext cx="31729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主題 → 精熟度 + 迷思概念（每學習者唯一）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642615"/>
            <a:ext cx="358444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642615"/>
            <a:ext cx="64008" cy="749808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" y="2752344"/>
            <a:ext cx="31729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misconception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3044951"/>
            <a:ext cx="31729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迷思參考表：錯誤型態與矯正提示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59" y="2642615"/>
            <a:ext cx="358444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59" y="2642615"/>
            <a:ext cx="64008" cy="749808"/>
          </a:xfrm>
          <a:prstGeom prst="rect">
            <a:avLst/>
          </a:prstGeom>
          <a:solidFill>
            <a:srgbClr val="14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71416" y="2752344"/>
            <a:ext cx="31729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session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1416" y="3044951"/>
            <a:ext cx="31729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學習會話：意圖日誌、LLM 摘要、token 成本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2642615"/>
            <a:ext cx="358444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01000" y="2642615"/>
            <a:ext cx="64008" cy="749808"/>
          </a:xfrm>
          <a:prstGeom prst="rect">
            <a:avLst/>
          </a:prstGeom>
          <a:solidFill>
            <a:srgbClr val="006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0456" y="2752344"/>
            <a:ext cx="31729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question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0456" y="3044951"/>
            <a:ext cx="31729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題目：題庫／LLM 產生，含提示階梯與完整解說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502152"/>
            <a:ext cx="358444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3502152"/>
            <a:ext cx="64008" cy="74980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6" y="3611880"/>
            <a:ext cx="31729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practice_attempt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" y="3904488"/>
            <a:ext cx="31729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作答紀錄：對錯、提示用量、命中迷思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51959" y="3502152"/>
            <a:ext cx="358444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51959" y="3502152"/>
            <a:ext cx="64008" cy="74980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71416" y="3611880"/>
            <a:ext cx="31729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learning_path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71416" y="3904488"/>
            <a:ext cx="31729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學習路徑：每學習者一條現行路徑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0" y="3502152"/>
            <a:ext cx="358444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01000" y="3502152"/>
            <a:ext cx="64008" cy="7498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0456" y="3611880"/>
            <a:ext cx="31729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learning_path_item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0456" y="3904488"/>
            <a:ext cx="31729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路徑節點：順序、狀態、複習到期日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4361688"/>
            <a:ext cx="358444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4361688"/>
            <a:ext cx="64008" cy="749808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" y="4471416"/>
            <a:ext cx="31729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teacher_report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" y="4764024"/>
            <a:ext cx="31729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教師報表：摘要、指標、建議介入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51959" y="4361688"/>
            <a:ext cx="358444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51959" y="4361688"/>
            <a:ext cx="64008" cy="749808"/>
          </a:xfrm>
          <a:prstGeom prst="rect">
            <a:avLst/>
          </a:prstGeom>
          <a:solidFill>
            <a:srgbClr val="14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71416" y="4471416"/>
            <a:ext cx="317296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escalation_log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71416" y="4764024"/>
            <a:ext cx="31729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升級／審計紀錄：安全與稽核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AI 個人學習導師 · 專案總結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API 契約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REST API —— 基礎路徑 /v1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回覆皆為 JSON；第一版授權由 API 閘道／中介層處理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11185855" cy="420624"/>
          </a:xfrm>
          <a:prstGeom prst="rect">
            <a:avLst/>
          </a:prstGeom>
          <a:solidFill>
            <a:srgbClr val="006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810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105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端點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1810512"/>
            <a:ext cx="7025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說明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12848"/>
            <a:ext cx="11185855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304288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304288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/v1/tutor/chat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304288"/>
            <a:ext cx="70253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家教對話回合（自適應、蘇格拉底式引導）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688336"/>
            <a:ext cx="11185855" cy="475488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2779776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779776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/v1/practice/generate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2779776"/>
            <a:ext cx="70253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產生練習題（答案不外洩）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163824"/>
            <a:ext cx="11185855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255264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255264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/v1/practice/attempt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3255264"/>
            <a:ext cx="70253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提交作答／請求下一層提示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639312"/>
            <a:ext cx="11185855" cy="475488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3730752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730752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/v1/learners/{id}/progress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1999" y="3730752"/>
            <a:ext cx="70253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讀取持久化進度（精熟度、路徑、複習建議）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114800"/>
            <a:ext cx="11185855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4206240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206240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/v1/learners/{id}/progress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1999" y="4206240"/>
            <a:ext cx="70253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獨立進度寫入（教師／後台修正）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590288"/>
            <a:ext cx="11185855" cy="475488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" y="4681727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GET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4681727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/v1/teachers/{id}/report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1999" y="4681727"/>
            <a:ext cx="70253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教師分析報表 + 建議介入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065775"/>
            <a:ext cx="11185855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" y="5157215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POST / 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5157215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/v1/learners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1999" y="5157215"/>
            <a:ext cx="70253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建立／讀取學習者檔案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541263"/>
            <a:ext cx="11185855" cy="475488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" y="5632703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GET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5632703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/v1/topics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1999" y="5632703"/>
            <a:ext cx="70253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讀取技能圖（主題清單）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089903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範圍外（v1 不實作）：</a:t>
            </a:r>
            <a:r>
              <a:rPr sz="11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POST /v1/sessions、GET /v1/learners/{id}/escalations；升級以 practice/chat 回應內旗標呈現。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AI 個人學習導師 · 專案總結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科目切片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固定切片：代數 —— 一元一次方程式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首版只實作單一科目切片，驗證教育流程；其餘主題留待擴展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12064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64008" cy="32004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技能圖（Topic Graph）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86000"/>
            <a:ext cx="4572000" cy="402336"/>
          </a:xfrm>
          <a:prstGeom prst="roundRect">
            <a:avLst>
              <a:gd name="adj" fmla="val 8000"/>
            </a:avLst>
          </a:prstGeom>
          <a:solidFill>
            <a:srgbClr val="F0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6968" y="2359152"/>
            <a:ext cx="256032" cy="256032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2368296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變數與代數式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743200"/>
            <a:ext cx="4572000" cy="402336"/>
          </a:xfrm>
          <a:prstGeom prst="roundRect">
            <a:avLst>
              <a:gd name="adj" fmla="val 8000"/>
            </a:avLst>
          </a:prstGeom>
          <a:solidFill>
            <a:srgbClr val="F0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86968" y="2816352"/>
            <a:ext cx="256032" cy="25603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2825496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一步方程式  x + a =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200400"/>
            <a:ext cx="4572000" cy="402336"/>
          </a:xfrm>
          <a:prstGeom prst="roundRect">
            <a:avLst>
              <a:gd name="adj" fmla="val 8000"/>
            </a:avLst>
          </a:prstGeom>
          <a:solidFill>
            <a:srgbClr val="F0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6968" y="3273552"/>
            <a:ext cx="256032" cy="256032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52728" y="3282696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兩步方程式  ax + b = 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657600"/>
            <a:ext cx="4572000" cy="402336"/>
          </a:xfrm>
          <a:prstGeom prst="roundRect">
            <a:avLst>
              <a:gd name="adj" fmla="val 8000"/>
            </a:avLst>
          </a:prstGeom>
          <a:solidFill>
            <a:srgbClr val="F0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86968" y="3730752"/>
            <a:ext cx="256032" cy="256032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52728" y="3739896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多步方程式（括號／同類項）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114800"/>
            <a:ext cx="4572000" cy="402336"/>
          </a:xfrm>
          <a:prstGeom prst="roundRect">
            <a:avLst>
              <a:gd name="adj" fmla="val 8000"/>
            </a:avLst>
          </a:prstGeom>
          <a:solidFill>
            <a:srgbClr val="F0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6968" y="4187952"/>
            <a:ext cx="256032" cy="256032"/>
          </a:xfrm>
          <a:prstGeom prst="ellipse">
            <a:avLst/>
          </a:prstGeom>
          <a:solidFill>
            <a:srgbClr val="14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52728" y="4197096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含分數／係數的方程式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572000"/>
            <a:ext cx="4572000" cy="402336"/>
          </a:xfrm>
          <a:prstGeom prst="roundRect">
            <a:avLst>
              <a:gd name="adj" fmla="val 8000"/>
            </a:avLst>
          </a:prstGeom>
          <a:solidFill>
            <a:srgbClr val="F0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86968" y="4645152"/>
            <a:ext cx="256032" cy="256032"/>
          </a:xfrm>
          <a:prstGeom prst="ellipse">
            <a:avLst/>
          </a:prstGeom>
          <a:solidFill>
            <a:srgbClr val="0060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52728" y="4654296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應用題（建模轉譯）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1783080"/>
            <a:ext cx="5742432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1783080"/>
            <a:ext cx="64008" cy="32004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9632" y="192024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迷思概念範例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2" y="230428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alg-eq-balance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230428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只在等號一邊運算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9632" y="261518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alg-eq-inverse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261518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用錯逆運算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9632" y="2926079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alg-eq-sign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292607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移項正負號錯誤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9632" y="3236975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alg-wp-translate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3236975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應用題無法轉成方程式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9632" y="3611880"/>
            <a:ext cx="5230368" cy="1207008"/>
          </a:xfrm>
          <a:prstGeom prst="roundRect">
            <a:avLst>
              <a:gd name="adj" fmla="val 8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2512" y="37033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範例題：3x − 5 = 16，求 x（答案 7）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041648"/>
            <a:ext cx="4846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A896"/>
                </a:solidFill>
                <a:latin typeface="Microsoft JhengHei"/>
                <a:ea typeface="Microsoft JhengHei"/>
                <a:cs typeface="Microsoft JhengHei"/>
              </a:rPr>
              <a:t>提示階梯：</a:t>
            </a:r>
            <a:r>
              <a:rPr sz="105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① 對 −5 該做什麼？ ② 兩邊 +5 得什麼？ ③ x 被乘 3，用哪個逆運算？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212080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種子資料：</a:t>
            </a:r>
            <a:r>
              <a:rPr sz="12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learner-demo、teacher-demo、6 個主題、12 題、迷思概念，啟動時自動建立。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AI 個人學習導師 · 專案總結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安全與責任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責任式輔導 —— 提示階梯與護欄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鼓勵思考而非依賴；永不直接給出最終答案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63093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64008" cy="356616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2024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提示階梯（Hint Ladder）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04288"/>
            <a:ext cx="1051560" cy="384048"/>
          </a:xfrm>
          <a:prstGeom prst="roundRect">
            <a:avLst>
              <a:gd name="adj" fmla="val 8000"/>
            </a:avLst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LEVEL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322576"/>
            <a:ext cx="1554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定向提示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331720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指出對應主題或重新讀題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807208"/>
            <a:ext cx="1051560" cy="384048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8036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LEVEL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2825496"/>
            <a:ext cx="1554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策略提示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834640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建議解題步驟，不給數字結果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10128"/>
            <a:ext cx="1051560" cy="384048"/>
          </a:xfrm>
          <a:prstGeom prst="roundRect">
            <a:avLst>
              <a:gd name="adj" fmla="val 8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38328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LEVEL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328416"/>
            <a:ext cx="1554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範例類比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337560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結構相同、數字不同的已解範例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813048"/>
            <a:ext cx="1051560" cy="384048"/>
          </a:xfrm>
          <a:prstGeom prst="roundRect">
            <a:avLst>
              <a:gd name="adj" fmla="val 8000"/>
            </a:avLst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88620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LEVEL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3831335"/>
            <a:ext cx="1554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逐步工作例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840480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拆解步驟，最後一步留給學生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315968"/>
            <a:ext cx="1051560" cy="384048"/>
          </a:xfrm>
          <a:prstGeom prst="roundRect">
            <a:avLst>
              <a:gd name="adj" fmla="val 8000"/>
            </a:avLst>
          </a:prstGeom>
          <a:solidFill>
            <a:srgbClr val="14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38912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卡關時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4334255"/>
            <a:ext cx="1554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完整解說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4343400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標記「示範」，安排變式題重做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78040" y="1783080"/>
            <a:ext cx="4507992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78040" y="1783080"/>
            <a:ext cx="64008" cy="35661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34072" y="1920240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Guardrail —— 何時升級</a:t>
            </a:r>
          </a:p>
        </p:txBody>
      </p:sp>
      <p:sp>
        <p:nvSpPr>
          <p:cNvPr id="33" name="Oval 32"/>
          <p:cNvSpPr/>
          <p:nvPr/>
        </p:nvSpPr>
        <p:spPr>
          <a:xfrm>
            <a:off x="7434072" y="2322576"/>
            <a:ext cx="182880" cy="18288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26679" y="2304288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自傷／虐待／人身危機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257860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升級教師 + 提供求助專線，不自行輔導</a:t>
            </a:r>
          </a:p>
        </p:txBody>
      </p:sp>
      <p:sp>
        <p:nvSpPr>
          <p:cNvPr id="36" name="Oval 35"/>
          <p:cNvSpPr/>
          <p:nvPr/>
        </p:nvSpPr>
        <p:spPr>
          <a:xfrm>
            <a:off x="7434072" y="3035808"/>
            <a:ext cx="182880" cy="18288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26679" y="3017520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醫療／法律／心理專業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9" y="3291839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說明非專業人員，建議尋求合格專業人士</a:t>
            </a:r>
          </a:p>
        </p:txBody>
      </p:sp>
      <p:sp>
        <p:nvSpPr>
          <p:cNvPr id="39" name="Oval 38"/>
          <p:cNvSpPr/>
          <p:nvPr/>
        </p:nvSpPr>
        <p:spPr>
          <a:xfrm>
            <a:off x="7434072" y="3749039"/>
            <a:ext cx="182880" cy="18288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26679" y="3730752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模型信心不足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79" y="400507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明確表達不確定，標記需教師確認</a:t>
            </a:r>
          </a:p>
        </p:txBody>
      </p:sp>
      <p:sp>
        <p:nvSpPr>
          <p:cNvPr id="42" name="Oval 41"/>
          <p:cNvSpPr/>
          <p:nvPr/>
        </p:nvSpPr>
        <p:spPr>
          <a:xfrm>
            <a:off x="7434072" y="4462272"/>
            <a:ext cx="182880" cy="182880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26679" y="4443984"/>
            <a:ext cx="3840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疑似作弊／要求代寫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679" y="471830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阻擋最終答案，改以提示階梯引導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623560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固定約束（寫入 Prompt 系統層）：</a:t>
            </a:r>
            <a:r>
              <a:rPr sz="12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永不直接給答案 · 鼓勵推理 · 標記 AI 生成 · 承認不確定 · 教師可介入。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AI 個人學習導師 · 專案總結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建置歷程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三階段協作交付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由 PM 拆解、多位 Agent 並行協作，依階段推進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212848"/>
            <a:ext cx="11185855" cy="54864"/>
          </a:xfrm>
          <a:prstGeom prst="rect">
            <a:avLst/>
          </a:prstGeom>
          <a:solidFill>
            <a:srgbClr val="E3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2084831"/>
            <a:ext cx="310896" cy="310896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06040"/>
            <a:ext cx="2615184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606040"/>
            <a:ext cx="64008" cy="265176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743200"/>
            <a:ext cx="2249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Phase 1 · 基礎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127248"/>
            <a:ext cx="224942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HKS-3 架構藍圖
HKS-4 視覺資產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913632"/>
            <a:ext cx="224942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架構、資料模型、API 契約；吉祥物、Logo、空狀態插圖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212848"/>
            <a:ext cx="11185855" cy="54864"/>
          </a:xfrm>
          <a:prstGeom prst="rect">
            <a:avLst/>
          </a:prstGeom>
          <a:solidFill>
            <a:srgbClr val="E3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10712" y="2084831"/>
            <a:ext cx="310896" cy="310896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9272" y="2606040"/>
            <a:ext cx="2615184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19272" y="2606040"/>
            <a:ext cx="64008" cy="265176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2743200"/>
            <a:ext cx="2249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Phase 2 · 建置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127248"/>
            <a:ext cx="224942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HKS-5 後端
HKS-6 前端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913632"/>
            <a:ext cx="224942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FastAPI 後端 + React 前端（學生／教師雙視圖）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212848"/>
            <a:ext cx="11185855" cy="54864"/>
          </a:xfrm>
          <a:prstGeom prst="rect">
            <a:avLst/>
          </a:prstGeom>
          <a:solidFill>
            <a:srgbClr val="E3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27064" y="2084831"/>
            <a:ext cx="310896" cy="310896"/>
          </a:xfrm>
          <a:prstGeom prst="ellipse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35624" y="2606040"/>
            <a:ext cx="2615184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35624" y="2606040"/>
            <a:ext cx="64008" cy="26517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2743200"/>
            <a:ext cx="2249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Phase 3 · 驗證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3127248"/>
            <a:ext cx="224942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HKS-7 驗證
HKS-8 修正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913632"/>
            <a:ext cx="224942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契約一致性驗證 → 修正 base path 與端點命名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212848"/>
            <a:ext cx="11185855" cy="54864"/>
          </a:xfrm>
          <a:prstGeom prst="rect">
            <a:avLst/>
          </a:prstGeom>
          <a:solidFill>
            <a:srgbClr val="E3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43416" y="2084831"/>
            <a:ext cx="310896" cy="310896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51976" y="2606040"/>
            <a:ext cx="2615184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51976" y="2606040"/>
            <a:ext cx="64008" cy="26517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53144" y="2743200"/>
            <a:ext cx="2249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收斂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53144" y="3127248"/>
            <a:ext cx="224942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HKS-9 / HKS-10
重新交付前端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53144" y="3913632"/>
            <a:ext cx="224942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補齊附件、對齊 /v1 後端重建前端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577840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母議題 </a:t>
            </a:r>
            <a:r>
              <a:rPr sz="120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HKS-2</a:t>
            </a:r>
            <a:r>
              <a:rPr sz="12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 定義了問題陳述與七大能力；所有子任務皆由此拆分、並行推進。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AI 個人學習導師 · 專案總結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838F"/>
                </a:solidFill>
                <a:latin typeface="Microsoft JhengHei"/>
                <a:ea typeface="Microsoft JhengHei"/>
                <a:cs typeface="Microsoft JhengHei"/>
              </a:rPr>
              <a:t>品質把關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驗證 → 修正 → 收斂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HKS-7 發現契約不符，HKS-8 逐項修復，並要求程式碼附加以便獨立驗證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544068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64008" cy="33832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92024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驗證發現（HKS-7）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✗  </a:t>
            </a:r>
            <a:r>
              <a:rPr sz="1150" b="0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Base path 使用 /api 而非契約的 /v1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✗  </a:t>
            </a:r>
            <a:r>
              <a:rPr sz="1150" b="0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POST /api/tutor/practice（應為 practice/generate）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2900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✗  </a:t>
            </a:r>
            <a:r>
              <a:rPr sz="1150" b="0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POST /api/tutor/assess（應為 practice/attempt）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39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✗  </a:t>
            </a:r>
            <a:r>
              <a:rPr sz="1150" b="0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教師報表缺範圍參數、以 learner id 當 teacher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26279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F96167"/>
                </a:solidFill>
                <a:latin typeface="Microsoft JhengHei"/>
                <a:ea typeface="Microsoft JhengHei"/>
                <a:cs typeface="Microsoft JhengHei"/>
              </a:rPr>
              <a:t>✗  </a:t>
            </a:r>
            <a:r>
              <a:rPr sz="1150" b="0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缺少獨立進度寫入 PUT progress 端點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783080"/>
            <a:ext cx="5422392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64008" cy="338328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192024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A896"/>
                </a:solidFill>
                <a:latin typeface="Microsoft JhengHei"/>
                <a:ea typeface="Microsoft JhengHei"/>
                <a:cs typeface="Microsoft JhengHei"/>
              </a:rPr>
              <a:t>修復後（HKS-8）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33172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0A896"/>
                </a:solidFill>
                <a:latin typeface="Microsoft JhengHei"/>
                <a:ea typeface="Microsoft JhengHei"/>
                <a:cs typeface="Microsoft JhengHei"/>
              </a:rPr>
              <a:t>✓  </a:t>
            </a:r>
            <a:r>
              <a:rPr sz="1150" b="0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Base path 統一為 /v1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88036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0A896"/>
                </a:solidFill>
                <a:latin typeface="Microsoft JhengHei"/>
                <a:ea typeface="Microsoft JhengHei"/>
                <a:cs typeface="Microsoft JhengHei"/>
              </a:rPr>
              <a:t>✓  </a:t>
            </a:r>
            <a:r>
              <a:rPr sz="1150" b="0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practice/generate、practice/attempt 命名對齊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42900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0A896"/>
                </a:solidFill>
                <a:latin typeface="Microsoft JhengHei"/>
                <a:ea typeface="Microsoft JhengHei"/>
                <a:cs typeface="Microsoft JhengHei"/>
              </a:rPr>
              <a:t>✓  </a:t>
            </a:r>
            <a:r>
              <a:rPr sz="1150" b="0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teachers/{id}/report 補上查詢範圍參數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977639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0A896"/>
                </a:solidFill>
                <a:latin typeface="Microsoft JhengHei"/>
                <a:ea typeface="Microsoft JhengHei"/>
                <a:cs typeface="Microsoft JhengHei"/>
              </a:rPr>
              <a:t>✓  </a:t>
            </a:r>
            <a:r>
              <a:rPr sz="1150" b="0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新增獨立 teacher 實體（teacher-demo）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526279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0A896"/>
                </a:solidFill>
                <a:latin typeface="Microsoft JhengHei"/>
                <a:ea typeface="Microsoft JhengHei"/>
                <a:cs typeface="Microsoft JhengHei"/>
              </a:rPr>
              <a:t>✓  </a:t>
            </a:r>
            <a:r>
              <a:rPr sz="1150" b="0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PUT progress、learners、topics 端點補齊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074919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0A896"/>
                </a:solidFill>
                <a:latin typeface="Microsoft JhengHei"/>
                <a:ea typeface="Microsoft JhengHei"/>
                <a:cs typeface="Microsoft JhengHei"/>
              </a:rPr>
              <a:t>✓  </a:t>
            </a:r>
            <a:r>
              <a:rPr sz="1150" b="0" i="0">
                <a:solidFill>
                  <a:srgbClr val="1B2A3A"/>
                </a:solidFill>
                <a:latin typeface="Microsoft JhengHei"/>
                <a:ea typeface="Microsoft JhengHei"/>
                <a:cs typeface="Microsoft JhengHei"/>
              </a:rPr>
              <a:t>程式碼以 tar.gz 附加，可供即時驗證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40680"/>
            <a:ext cx="11185855" cy="685800"/>
          </a:xfrm>
          <a:prstGeom prst="roundRect">
            <a:avLst>
              <a:gd name="adj" fmla="val 8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596128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0A896"/>
                </a:solidFill>
                <a:latin typeface="Microsoft JhengHei"/>
                <a:ea typeface="Microsoft JhengHei"/>
                <a:cs typeface="Microsoft JhengHei"/>
              </a:rPr>
              <a:t>流程教訓：</a:t>
            </a:r>
            <a:r>
              <a:rPr sz="12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交付物應以「可執行的程式碼附件」落地，而非只留存於會被清理的工作目錄——讓後續驗證能對真實成品執行。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AI 個人學習導師 · 專案總結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566928" cy="109728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A896"/>
                </a:solidFill>
                <a:latin typeface="Microsoft JhengHei"/>
                <a:ea typeface="Microsoft JhengHei"/>
                <a:cs typeface="Microsoft JhengHei"/>
              </a:rPr>
              <a:t>成果總結  · 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已交付與下一步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77440"/>
            <a:ext cx="2148840" cy="1481328"/>
          </a:xfrm>
          <a:prstGeom prst="roundRect">
            <a:avLst>
              <a:gd name="adj" fmla="val 8000"/>
            </a:avLst>
          </a:prstGeom>
          <a:solidFill>
            <a:srgbClr val="16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377440"/>
            <a:ext cx="64008" cy="148132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542032"/>
            <a:ext cx="18196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架構藍圖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944368"/>
            <a:ext cx="18196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模組化單體、資料模型、REST 契約、ADR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377440"/>
            <a:ext cx="2148840" cy="1481328"/>
          </a:xfrm>
          <a:prstGeom prst="roundRect">
            <a:avLst>
              <a:gd name="adj" fmla="val 8000"/>
            </a:avLst>
          </a:prstGeom>
          <a:solidFill>
            <a:srgbClr val="16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2377440"/>
            <a:ext cx="64008" cy="148132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2542032"/>
            <a:ext cx="18196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視覺資產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944368"/>
            <a:ext cx="18196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吉祥物、Logo、空狀態／載入插圖（原創）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2377440"/>
            <a:ext cx="2148840" cy="1481328"/>
          </a:xfrm>
          <a:prstGeom prst="roundRect">
            <a:avLst>
              <a:gd name="adj" fmla="val 8000"/>
            </a:avLst>
          </a:prstGeom>
          <a:solidFill>
            <a:srgbClr val="16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66360" y="2377440"/>
            <a:ext cx="64008" cy="14813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0952" y="2542032"/>
            <a:ext cx="18196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後端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2944368"/>
            <a:ext cx="18196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FastAPI + SQLite + OpenAI 相容 LLM（離線降級）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0" y="2377440"/>
            <a:ext cx="2148840" cy="1481328"/>
          </a:xfrm>
          <a:prstGeom prst="roundRect">
            <a:avLst>
              <a:gd name="adj" fmla="val 8000"/>
            </a:avLst>
          </a:prstGeom>
          <a:solidFill>
            <a:srgbClr val="16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80" y="2377440"/>
            <a:ext cx="64008" cy="1481328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2" y="2542032"/>
            <a:ext cx="18196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前端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2" y="2944368"/>
            <a:ext cx="18196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React + Vite：學生聊天／練習／進度 + 教師儀表板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2377440"/>
            <a:ext cx="2148840" cy="1481328"/>
          </a:xfrm>
          <a:prstGeom prst="roundRect">
            <a:avLst>
              <a:gd name="adj" fmla="val 8000"/>
            </a:avLst>
          </a:prstGeom>
          <a:solidFill>
            <a:srgbClr val="16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29800" y="2377440"/>
            <a:ext cx="64008" cy="1481328"/>
          </a:xfrm>
          <a:prstGeom prst="rect">
            <a:avLst/>
          </a:prstGeom>
          <a:solidFill>
            <a:srgbClr val="14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94392" y="2542032"/>
            <a:ext cx="18196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驗證報告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4392" y="2944368"/>
            <a:ext cx="18196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契約一致、安全、進度持久化之驗證結論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206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A896"/>
                </a:solidFill>
                <a:latin typeface="Microsoft JhengHei"/>
                <a:ea typeface="Microsoft JhengHei"/>
                <a:cs typeface="Microsoft JhengHei"/>
              </a:rPr>
              <a:t>下一步（建議）</a:t>
            </a:r>
          </a:p>
        </p:txBody>
      </p:sp>
      <p:sp>
        <p:nvSpPr>
          <p:cNvPr id="28" name="Oval 27"/>
          <p:cNvSpPr/>
          <p:nvPr/>
        </p:nvSpPr>
        <p:spPr>
          <a:xfrm>
            <a:off x="502920" y="4645152"/>
            <a:ext cx="146304" cy="146304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" y="4617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對實際程式碼執行即時端點驗證（而非僅靜態日誌）</a:t>
            </a:r>
          </a:p>
        </p:txBody>
      </p:sp>
      <p:sp>
        <p:nvSpPr>
          <p:cNvPr id="30" name="Oval 29"/>
          <p:cNvSpPr/>
          <p:nvPr/>
        </p:nvSpPr>
        <p:spPr>
          <a:xfrm>
            <a:off x="502920" y="5065776"/>
            <a:ext cx="146304" cy="146304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503834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前後端聯調：以 VITE_API_BASE_URL 對接 FastAPI，驗證完整學習閉環</a:t>
            </a:r>
          </a:p>
        </p:txBody>
      </p:sp>
      <p:sp>
        <p:nvSpPr>
          <p:cNvPr id="32" name="Oval 31"/>
          <p:cNvSpPr/>
          <p:nvPr/>
        </p:nvSpPr>
        <p:spPr>
          <a:xfrm>
            <a:off x="502920" y="5486400"/>
            <a:ext cx="146304" cy="146304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54589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擴展科目切片、串流講解（SSE）與部署準備（PostgreSQL）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12648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C93"/>
                </a:solidFill>
                <a:latin typeface="Microsoft JhengHei"/>
                <a:ea typeface="Microsoft JhengHei"/>
                <a:cs typeface="Microsoft JhengHei"/>
              </a:rPr>
              <a:t>技術棧：</a:t>
            </a: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Python FastAPI · React 18 + Vite · SQLite · OpenAI 相容 LLM 介面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